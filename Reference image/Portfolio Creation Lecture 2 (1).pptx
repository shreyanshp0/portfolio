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Gotham" panose="020B0604020202020204" charset="0"/>
      <p:regular r:id="rId21"/>
    </p:embeddedFont>
    <p:embeddedFont>
      <p:font typeface="Gotham Bold" panose="020B0604020202020204" charset="0"/>
      <p:regular r:id="rId22"/>
    </p:embeddedFont>
    <p:embeddedFont>
      <p:font typeface="Gotham Bold Italics" panose="020B0604020202020204" charset="0"/>
      <p:regular r:id="rId23"/>
    </p:embeddedFont>
    <p:embeddedFont>
      <p:font typeface="Gotham Italics" panose="020B0604020202020204" charset="0"/>
      <p:regular r:id="rId24"/>
    </p:embeddedFont>
    <p:embeddedFont>
      <p:font typeface="Gotham Light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session as a practical guide to building a professional portfolio that supports placements and career growth.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Explain that portfolios go beyond resumes by showing how students apply knowledge. Example: GitHub repos, ML models, UI/UX designs.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Encourage students to keep it concise yet personal. Example: “Passionate about AI &amp; problem‑solving, aiming for product development roles.”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embedding a resume in the portfolio ensures recruiters can quickly access it.</a:t>
            </a:r>
          </a:p>
          <a:p>
            <a:r>
              <a:rPr lang="en-US"/>
              <a:t>The resume acts as a snapshot for recruiters during shortlisting. A well-organized resume embedded in your portfolio ensures quick access and reinforces your readiness for interviews.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how coursework (e.g., Data Structures, ML) aligns with career goals.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Group skills by category for clarity. Recruiters often scan for specific tools.</a:t>
            </a:r>
          </a:p>
          <a:p>
            <a:r>
              <a:rPr lang="en-US"/>
              <a:t>Recruiters often scan candidate profiles for specific tools and technologies. Categorised skills help match your capabilities with job descriptions and ATS (Applicant Tracking System) filters.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Projects show application of theory. Example: “Built ML model for sentiment analysis using Python &amp; TensorFlow.”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Certifications validate your initiative to learn beyond the classroom. They show commitment to continuous learning and help bridge gaps between academic curriculum and industry expectations.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Internships show readiness for real‑world work. Example: “Developed APIs at XYZ startup, improving response time by 20%."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These experiences highlight analytical thinking and coding proficiency.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Research signals depth and originality—valuable for AI, ML, and R&amp;D roles.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Professional contact info ensures recruiters can reach out easily.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Digital hosting increases visibility and shows tech‑savviness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839987" y="-353712"/>
            <a:ext cx="10994424" cy="109944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91400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384897" y="5379918"/>
            <a:ext cx="6059445" cy="605944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720762" y="6964430"/>
            <a:ext cx="2000810" cy="4114800"/>
          </a:xfrm>
          <a:custGeom>
            <a:avLst/>
            <a:gdLst/>
            <a:ahLst/>
            <a:cxnLst/>
            <a:rect l="l" t="t" r="r" b="b"/>
            <a:pathLst>
              <a:path w="2000810" h="411480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204881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73132" y="4114076"/>
            <a:ext cx="12198237" cy="2291464"/>
            <a:chOff x="0" y="0"/>
            <a:chExt cx="3212705" cy="6035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12704" cy="603513"/>
            </a:xfrm>
            <a:custGeom>
              <a:avLst/>
              <a:gdLst/>
              <a:ahLst/>
              <a:cxnLst/>
              <a:rect l="l" t="t" r="r" b="b"/>
              <a:pathLst>
                <a:path w="3212704" h="603513">
                  <a:moveTo>
                    <a:pt x="0" y="0"/>
                  </a:moveTo>
                  <a:lnTo>
                    <a:pt x="3212704" y="0"/>
                  </a:lnTo>
                  <a:lnTo>
                    <a:pt x="3212704" y="603513"/>
                  </a:lnTo>
                  <a:lnTo>
                    <a:pt x="0" y="603513"/>
                  </a:lnTo>
                  <a:close/>
                </a:path>
              </a:pathLst>
            </a:custGeom>
            <a:solidFill>
              <a:srgbClr val="FFFEF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3212705" cy="632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543807" y="6491979"/>
            <a:ext cx="7856888" cy="191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2"/>
              </a:lnSpc>
              <a:spcBef>
                <a:spcPct val="0"/>
              </a:spcBef>
            </a:pPr>
            <a:r>
              <a:rPr lang="en-US" sz="5501" spc="308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Showcasing Skills, Projects &amp; Growth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64241" y="2358114"/>
            <a:ext cx="11159517" cy="379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70"/>
              </a:lnSpc>
              <a:spcBef>
                <a:spcPct val="0"/>
              </a:spcBef>
            </a:pPr>
            <a:r>
              <a:rPr lang="en-US" sz="10907" b="1" spc="1527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PORTFOLIO CREATION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65668" y="-5606768"/>
            <a:ext cx="10994424" cy="109944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790556" y="-593021"/>
            <a:ext cx="6030561" cy="12061121"/>
            <a:chOff x="0" y="0"/>
            <a:chExt cx="3175000" cy="635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175000" cy="6350000"/>
            </a:xfrm>
            <a:custGeom>
              <a:avLst/>
              <a:gdLst/>
              <a:ahLst/>
              <a:cxnLst/>
              <a:rect l="l" t="t" r="r" b="b"/>
              <a:pathLst>
                <a:path w="3175000" h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3175000" y="0"/>
                  </a:ln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024989" y="6014770"/>
            <a:ext cx="8568692" cy="171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620"/>
              </a:lnSpc>
              <a:buFont typeface="Arial"/>
              <a:buChar char="•"/>
            </a:pPr>
            <a:r>
              <a:rPr lang="en-US" sz="3000" spc="-282" dirty="0">
                <a:solidFill>
                  <a:srgbClr val="191919"/>
                </a:solidFill>
                <a:latin typeface="Gotham Light"/>
                <a:ea typeface="Gotham Light"/>
                <a:cs typeface="Gotham Light"/>
                <a:sym typeface="Gotham Light"/>
              </a:rPr>
              <a:t>Curated collection of work, skills &amp; achievements</a:t>
            </a:r>
          </a:p>
          <a:p>
            <a:pPr marL="647700" lvl="1" indent="-323850" algn="l">
              <a:lnSpc>
                <a:spcPts val="4620"/>
              </a:lnSpc>
              <a:buFont typeface="Arial"/>
              <a:buChar char="•"/>
            </a:pPr>
            <a:r>
              <a:rPr lang="en-US" sz="3000" spc="-282" dirty="0">
                <a:solidFill>
                  <a:srgbClr val="191919"/>
                </a:solidFill>
                <a:latin typeface="Gotham Light"/>
                <a:ea typeface="Gotham Light"/>
                <a:cs typeface="Gotham Light"/>
                <a:sym typeface="Gotham Light"/>
              </a:rPr>
              <a:t>Dynamic extension of the resume</a:t>
            </a:r>
          </a:p>
          <a:p>
            <a:pPr marL="647700" lvl="1" indent="-323850" algn="l">
              <a:lnSpc>
                <a:spcPts val="4620"/>
              </a:lnSpc>
              <a:buFont typeface="Arial"/>
              <a:buChar char="•"/>
            </a:pPr>
            <a:r>
              <a:rPr lang="en-US" sz="3000" spc="-282" dirty="0">
                <a:solidFill>
                  <a:srgbClr val="191919"/>
                </a:solidFill>
                <a:latin typeface="Gotham Light"/>
                <a:ea typeface="Gotham Light"/>
                <a:cs typeface="Gotham Light"/>
                <a:sym typeface="Gotham Light"/>
              </a:rPr>
              <a:t>Demonstrates initiative &amp; problem‑solving ability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24989" y="2161753"/>
            <a:ext cx="7422601" cy="253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1" spc="499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What is a Portfolio?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24989" y="4755763"/>
            <a:ext cx="6598813" cy="1206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58"/>
              </a:lnSpc>
            </a:pPr>
            <a:r>
              <a:rPr lang="en-US" sz="3470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Virtual show of your competencies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 rot="3945801">
            <a:off x="11868535" y="8125500"/>
            <a:ext cx="4776403" cy="4776403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 rot="3945801">
            <a:off x="12156571" y="7154038"/>
            <a:ext cx="1577153" cy="3243522"/>
          </a:xfrm>
          <a:custGeom>
            <a:avLst/>
            <a:gdLst/>
            <a:ahLst/>
            <a:cxnLst/>
            <a:rect l="l" t="t" r="r" b="b"/>
            <a:pathLst>
              <a:path w="1577153" h="3243522">
                <a:moveTo>
                  <a:pt x="0" y="0"/>
                </a:moveTo>
                <a:lnTo>
                  <a:pt x="1577154" y="0"/>
                </a:lnTo>
                <a:lnTo>
                  <a:pt x="1577154" y="3243523"/>
                </a:lnTo>
                <a:lnTo>
                  <a:pt x="0" y="3243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204881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6942" y="1891453"/>
            <a:ext cx="11934116" cy="6504093"/>
          </a:xfrm>
          <a:custGeom>
            <a:avLst/>
            <a:gdLst/>
            <a:ahLst/>
            <a:cxnLst/>
            <a:rect l="l" t="t" r="r" b="b"/>
            <a:pathLst>
              <a:path w="11934116" h="6504093">
                <a:moveTo>
                  <a:pt x="0" y="0"/>
                </a:moveTo>
                <a:lnTo>
                  <a:pt x="11934116" y="0"/>
                </a:lnTo>
                <a:lnTo>
                  <a:pt x="11934116" y="6504094"/>
                </a:lnTo>
                <a:lnTo>
                  <a:pt x="0" y="650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12611" y="4443074"/>
            <a:ext cx="2660764" cy="4815226"/>
            <a:chOff x="0" y="0"/>
            <a:chExt cx="3547686" cy="6420301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2"/>
            <a:srcRect l="31592" r="31592"/>
            <a:stretch>
              <a:fillRect/>
            </a:stretch>
          </p:blipFill>
          <p:spPr>
            <a:xfrm>
              <a:off x="0" y="0"/>
              <a:ext cx="3547686" cy="6420301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14106296" y="4443074"/>
            <a:ext cx="3324940" cy="2137237"/>
            <a:chOff x="0" y="0"/>
            <a:chExt cx="4433253" cy="2849649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3"/>
            <a:srcRect l="11301" r="11301"/>
            <a:stretch>
              <a:fillRect/>
            </a:stretch>
          </p:blipFill>
          <p:spPr>
            <a:xfrm>
              <a:off x="0" y="0"/>
              <a:ext cx="4433253" cy="2849649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14106296" y="6675561"/>
            <a:ext cx="3324940" cy="2582739"/>
            <a:chOff x="0" y="0"/>
            <a:chExt cx="4433253" cy="3443652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4"/>
            <a:srcRect l="7034" r="7034"/>
            <a:stretch>
              <a:fillRect/>
            </a:stretch>
          </p:blipFill>
          <p:spPr>
            <a:xfrm>
              <a:off x="0" y="0"/>
              <a:ext cx="4433253" cy="3443652"/>
            </a:xfrm>
            <a:prstGeom prst="rect">
              <a:avLst/>
            </a:prstGeom>
          </p:spPr>
        </p:pic>
      </p:grpSp>
      <p:sp>
        <p:nvSpPr>
          <p:cNvPr id="29" name="TextBox 29"/>
          <p:cNvSpPr txBox="1"/>
          <p:nvPr/>
        </p:nvSpPr>
        <p:spPr>
          <a:xfrm>
            <a:off x="2618056" y="1839474"/>
            <a:ext cx="15214219" cy="2583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59"/>
              </a:lnSpc>
            </a:pPr>
            <a:r>
              <a:rPr lang="en-US" sz="7399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Importance of Portfolio Building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18056" y="4914951"/>
            <a:ext cx="8082093" cy="250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Builds credibility with recruiters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Highlights real‑world application of skills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Differentiates you from peers with similar resumes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Reflects continuous learning &amp; growth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439471" y="8737362"/>
            <a:ext cx="3697059" cy="3697059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92868" y="3652082"/>
            <a:ext cx="4556554" cy="3317308"/>
            <a:chOff x="0" y="0"/>
            <a:chExt cx="6075405" cy="442307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l="4242" r="4242"/>
            <a:stretch>
              <a:fillRect/>
            </a:stretch>
          </p:blipFill>
          <p:spPr>
            <a:xfrm>
              <a:off x="0" y="0"/>
              <a:ext cx="6075405" cy="442307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822827" y="3652082"/>
            <a:ext cx="1436473" cy="3317308"/>
            <a:chOff x="0" y="0"/>
            <a:chExt cx="1915297" cy="4423077"/>
          </a:xfrm>
        </p:grpSpPr>
        <p:sp>
          <p:nvSpPr>
            <p:cNvPr id="29" name="AutoShape 29"/>
            <p:cNvSpPr/>
            <p:nvPr/>
          </p:nvSpPr>
          <p:spPr>
            <a:xfrm>
              <a:off x="0" y="0"/>
              <a:ext cx="1915297" cy="4423077"/>
            </a:xfrm>
            <a:prstGeom prst="rect">
              <a:avLst/>
            </a:prstGeom>
            <a:solidFill>
              <a:srgbClr val="FD622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39471" y="8737362"/>
            <a:ext cx="3697059" cy="369705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618056" y="1839474"/>
            <a:ext cx="6989101" cy="12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59"/>
              </a:lnSpc>
            </a:pPr>
            <a:r>
              <a:rPr lang="en-US" sz="7399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About Me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618056" y="4138646"/>
            <a:ext cx="7745917" cy="149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Brief personal intro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Academic background &amp; career goals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Unique qualities or interests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27797" y="514350"/>
            <a:ext cx="11232406" cy="9258300"/>
            <a:chOff x="0" y="0"/>
            <a:chExt cx="14976541" cy="123444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76" r="176"/>
            <a:stretch>
              <a:fillRect/>
            </a:stretch>
          </p:blipFill>
          <p:spPr>
            <a:xfrm>
              <a:off x="0" y="0"/>
              <a:ext cx="14976541" cy="1234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000437" y="1748896"/>
            <a:ext cx="6258863" cy="7275951"/>
            <a:chOff x="0" y="0"/>
            <a:chExt cx="8345150" cy="9701269"/>
          </a:xfrm>
        </p:grpSpPr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/>
            <a:srcRect l="2605" r="2605"/>
            <a:stretch>
              <a:fillRect/>
            </a:stretch>
          </p:blipFill>
          <p:spPr>
            <a:xfrm>
              <a:off x="0" y="0"/>
              <a:ext cx="8345150" cy="9701269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439471" y="8737362"/>
            <a:ext cx="3697059" cy="3697059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618056" y="1839474"/>
            <a:ext cx="15214219" cy="12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59"/>
              </a:lnSpc>
            </a:pPr>
            <a:r>
              <a:rPr lang="en-US" sz="7399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Resume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18056" y="3941504"/>
            <a:ext cx="8082093" cy="2004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Ensure you add your resume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Contact details &amp; career objective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Education, skills, internships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Tailored for tech industry roles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8156217" y="3510090"/>
            <a:ext cx="9559250" cy="5596600"/>
          </a:xfrm>
          <a:custGeom>
            <a:avLst/>
            <a:gdLst/>
            <a:ahLst/>
            <a:cxnLst/>
            <a:rect l="l" t="t" r="r" b="b"/>
            <a:pathLst>
              <a:path w="9559250" h="5596600">
                <a:moveTo>
                  <a:pt x="0" y="0"/>
                </a:moveTo>
                <a:lnTo>
                  <a:pt x="9559251" y="0"/>
                </a:lnTo>
                <a:lnTo>
                  <a:pt x="9559251" y="5596600"/>
                </a:lnTo>
                <a:lnTo>
                  <a:pt x="0" y="5596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529961" y="1910808"/>
            <a:ext cx="7824944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Education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26549" y="3851450"/>
            <a:ext cx="5818505" cy="4023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Current B.Tech program details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Specialization &amp; CGPA/percentage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Highlight relevant coursework &amp; projects</a:t>
            </a:r>
          </a:p>
          <a:p>
            <a:pPr marL="615457" lvl="1" indent="-307729" algn="l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Include details of previous education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503236" y="4845656"/>
            <a:ext cx="7281528" cy="5122384"/>
            <a:chOff x="0" y="0"/>
            <a:chExt cx="6350000" cy="44670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50000" cy="4467075"/>
            </a:xfrm>
            <a:custGeom>
              <a:avLst/>
              <a:gdLst/>
              <a:ahLst/>
              <a:cxnLst/>
              <a:rect l="l" t="t" r="r" b="b"/>
              <a:pathLst>
                <a:path w="6350000" h="4467075">
                  <a:moveTo>
                    <a:pt x="6209030" y="0"/>
                  </a:moveTo>
                  <a:lnTo>
                    <a:pt x="140970" y="0"/>
                  </a:lnTo>
                  <a:cubicBezTo>
                    <a:pt x="63500" y="0"/>
                    <a:pt x="0" y="83449"/>
                    <a:pt x="0" y="185631"/>
                  </a:cubicBezTo>
                  <a:lnTo>
                    <a:pt x="0" y="4281444"/>
                  </a:lnTo>
                  <a:cubicBezTo>
                    <a:pt x="0" y="4383627"/>
                    <a:pt x="63500" y="4467075"/>
                    <a:pt x="140970" y="4467075"/>
                  </a:cubicBezTo>
                  <a:lnTo>
                    <a:pt x="6209030" y="4467075"/>
                  </a:lnTo>
                  <a:cubicBezTo>
                    <a:pt x="6286500" y="4467075"/>
                    <a:pt x="6350000" y="4383627"/>
                    <a:pt x="6350000" y="4281444"/>
                  </a:cubicBezTo>
                  <a:lnTo>
                    <a:pt x="6350000" y="185631"/>
                  </a:lnTo>
                  <a:cubicBezTo>
                    <a:pt x="6350000" y="83449"/>
                    <a:pt x="6286500" y="0"/>
                    <a:pt x="6209030" y="0"/>
                  </a:cubicBezTo>
                  <a:close/>
                </a:path>
              </a:pathLst>
            </a:custGeom>
            <a:blipFill>
              <a:blip r:embed="rId3"/>
              <a:stretch>
                <a:fillRect t="-1440" b="-1440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2859440" y="973737"/>
            <a:ext cx="8021630" cy="1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40"/>
              </a:lnSpc>
              <a:spcBef>
                <a:spcPct val="0"/>
              </a:spcBef>
            </a:pPr>
            <a:r>
              <a:rPr lang="en-US" sz="8243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Skills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59440" y="2526010"/>
            <a:ext cx="14203000" cy="2129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Group skills as per category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Programming languages (Python, Java, C++)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Tools &amp; frameworks (Git, Docker, React, TensorFlow)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Soft skills (communication, teamwork)</a:t>
            </a:r>
          </a:p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Highlight the relevant skills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68793" y="3724627"/>
            <a:ext cx="9558913" cy="6013902"/>
            <a:chOff x="0" y="0"/>
            <a:chExt cx="12745218" cy="801853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t="3396" b="3396"/>
            <a:stretch>
              <a:fillRect/>
            </a:stretch>
          </p:blipFill>
          <p:spPr>
            <a:xfrm>
              <a:off x="0" y="0"/>
              <a:ext cx="12745218" cy="801853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4651003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5318634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604120" y="885825"/>
            <a:ext cx="7824944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Project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14616" y="2985474"/>
            <a:ext cx="14203000" cy="298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Showcase your major academic and personal projects.</a:t>
            </a:r>
          </a:p>
          <a:p>
            <a:pPr algn="l">
              <a:lnSpc>
                <a:spcPts val="3395"/>
              </a:lnSpc>
            </a:pPr>
            <a:endParaRPr lang="en-US" sz="2425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Include key headings for clarity.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Title &amp; description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Technologies used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Role, challenges, outcomes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GitHub/demo links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60737" y="5318634"/>
            <a:ext cx="7649854" cy="4883857"/>
            <a:chOff x="0" y="0"/>
            <a:chExt cx="10199805" cy="6511809"/>
          </a:xfrm>
        </p:grpSpPr>
        <p:pic>
          <p:nvPicPr>
            <p:cNvPr id="37" name="Picture 37"/>
            <p:cNvPicPr>
              <a:picLocks noChangeAspect="1"/>
            </p:cNvPicPr>
            <p:nvPr/>
          </p:nvPicPr>
          <p:blipFill>
            <a:blip r:embed="rId5"/>
            <a:srcRect l="4869" r="4869"/>
            <a:stretch>
              <a:fillRect/>
            </a:stretch>
          </p:blipFill>
          <p:spPr>
            <a:xfrm>
              <a:off x="0" y="0"/>
              <a:ext cx="10199805" cy="6511809"/>
            </a:xfrm>
            <a:prstGeom prst="rect">
              <a:avLst/>
            </a:prstGeom>
          </p:spPr>
        </p:pic>
      </p:grpSp>
      <p:sp>
        <p:nvSpPr>
          <p:cNvPr id="38" name="TextBox 38"/>
          <p:cNvSpPr txBox="1"/>
          <p:nvPr/>
        </p:nvSpPr>
        <p:spPr>
          <a:xfrm>
            <a:off x="2964571" y="1484258"/>
            <a:ext cx="6179429" cy="116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2"/>
              </a:lnSpc>
              <a:spcBef>
                <a:spcPct val="0"/>
              </a:spcBef>
            </a:pPr>
            <a:r>
              <a:rPr lang="en-US" sz="8243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Certificates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15551" y="2985474"/>
            <a:ext cx="10146471" cy="170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Content: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Course name &amp; issuing body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Relevant certifications (Data Science, Cybersecurity, Cloud)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Completion 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9794520" y="3315742"/>
            <a:ext cx="7464780" cy="5983941"/>
          </a:xfrm>
          <a:custGeom>
            <a:avLst/>
            <a:gdLst/>
            <a:ahLst/>
            <a:cxnLst/>
            <a:rect l="l" t="t" r="r" b="b"/>
            <a:pathLst>
              <a:path w="7464780" h="5983941">
                <a:moveTo>
                  <a:pt x="0" y="0"/>
                </a:moveTo>
                <a:lnTo>
                  <a:pt x="7464780" y="0"/>
                </a:lnTo>
                <a:lnTo>
                  <a:pt x="7464780" y="5983941"/>
                </a:lnTo>
                <a:lnTo>
                  <a:pt x="0" y="5983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63" b="-10112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756647" y="1715187"/>
            <a:ext cx="7642360" cy="116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2"/>
              </a:lnSpc>
              <a:spcBef>
                <a:spcPct val="0"/>
              </a:spcBef>
            </a:pPr>
            <a:r>
              <a:rPr lang="en-US" sz="8243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Achievements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756647" y="3304667"/>
            <a:ext cx="6678338" cy="298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Achievements reflect excellence and leadership.</a:t>
            </a:r>
          </a:p>
          <a:p>
            <a:pPr algn="l">
              <a:lnSpc>
                <a:spcPts val="3395"/>
              </a:lnSpc>
            </a:pPr>
            <a:endParaRPr lang="en-US" sz="2425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Content: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Coding competitions, scholarships, and leadership roles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Dates &amp; brief descriptions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56647" y="1715187"/>
            <a:ext cx="11273066" cy="228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2"/>
              </a:lnSpc>
              <a:spcBef>
                <a:spcPct val="0"/>
              </a:spcBef>
            </a:pPr>
            <a:r>
              <a:rPr lang="en-US" sz="8243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Internships &amp; Work Experience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56647" y="4335608"/>
            <a:ext cx="12348514" cy="2129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Showcase your experience</a:t>
            </a:r>
          </a:p>
          <a:p>
            <a:pPr algn="l">
              <a:lnSpc>
                <a:spcPts val="3395"/>
              </a:lnSpc>
            </a:pPr>
            <a:endParaRPr lang="en-US" sz="2425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Content: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Company name, role, duration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Key responsibilities &amp; outcomes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20858" y="1758020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56647" y="1715187"/>
            <a:ext cx="11273066" cy="341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2"/>
              </a:lnSpc>
              <a:spcBef>
                <a:spcPct val="0"/>
              </a:spcBef>
            </a:pPr>
            <a:r>
              <a:rPr lang="en-US" sz="8243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Competitive Programming / Hackathons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56647" y="5339247"/>
            <a:ext cx="12348514" cy="2129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Add these with pics (if possible for extra edge)</a:t>
            </a:r>
          </a:p>
          <a:p>
            <a:pPr algn="l">
              <a:lnSpc>
                <a:spcPts val="3395"/>
              </a:lnSpc>
            </a:pPr>
            <a:endParaRPr lang="en-US" sz="2425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Content: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Platforms: LeetCode, HackerRank, Kaggle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Rankings &amp; event participation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20858" y="1758020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56647" y="1715187"/>
            <a:ext cx="13402184" cy="116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2"/>
              </a:lnSpc>
              <a:spcBef>
                <a:spcPct val="0"/>
              </a:spcBef>
            </a:pPr>
            <a:r>
              <a:rPr lang="en-US" sz="8243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Research &amp; Publications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56647" y="3568717"/>
            <a:ext cx="12348514" cy="2129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Highlight your expertise with intensive knowledge </a:t>
            </a:r>
          </a:p>
          <a:p>
            <a:pPr algn="l">
              <a:lnSpc>
                <a:spcPts val="3395"/>
              </a:lnSpc>
            </a:pPr>
            <a:endParaRPr lang="en-US" sz="2425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Content: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Titles, abstracts, co‑authors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Publication links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20858" y="1758020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0858" y="1758020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13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9644553" y="3240990"/>
            <a:ext cx="7141807" cy="6150881"/>
          </a:xfrm>
          <a:custGeom>
            <a:avLst/>
            <a:gdLst/>
            <a:ahLst/>
            <a:cxnLst/>
            <a:rect l="l" t="t" r="r" b="b"/>
            <a:pathLst>
              <a:path w="7141807" h="6150881">
                <a:moveTo>
                  <a:pt x="0" y="0"/>
                </a:moveTo>
                <a:lnTo>
                  <a:pt x="7141807" y="0"/>
                </a:lnTo>
                <a:lnTo>
                  <a:pt x="7141807" y="6150882"/>
                </a:lnTo>
                <a:lnTo>
                  <a:pt x="0" y="6150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756647" y="1715187"/>
            <a:ext cx="11273066" cy="116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2"/>
              </a:lnSpc>
              <a:spcBef>
                <a:spcPct val="0"/>
              </a:spcBef>
            </a:pPr>
            <a:r>
              <a:rPr lang="en-US" sz="8243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Contact Section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56647" y="3686350"/>
            <a:ext cx="6655926" cy="255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Easy access to your contact info ensures recruiter’s response</a:t>
            </a:r>
          </a:p>
          <a:p>
            <a:pPr algn="l">
              <a:lnSpc>
                <a:spcPts val="3395"/>
              </a:lnSpc>
            </a:pPr>
            <a:endParaRPr lang="en-US" sz="2425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Content: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Email, LinkedIn, GitHub, portfolio website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0858" y="1758020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14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56647" y="1715187"/>
            <a:ext cx="10645537" cy="228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2"/>
              </a:lnSpc>
              <a:spcBef>
                <a:spcPct val="0"/>
              </a:spcBef>
            </a:pPr>
            <a:r>
              <a:rPr lang="en-US" sz="8243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Portfolio Hosting &amp; Visibility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56647" y="4269056"/>
            <a:ext cx="11653750" cy="170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 digitally accessible portfolio increases visibility.</a:t>
            </a:r>
          </a:p>
          <a:p>
            <a:pPr algn="l">
              <a:lnSpc>
                <a:spcPts val="3395"/>
              </a:lnSpc>
            </a:pPr>
            <a:endParaRPr lang="en-US" sz="2425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Platforms: GitHub Pages, Notion, personal website</a:t>
            </a:r>
          </a:p>
          <a:p>
            <a:pPr marL="523627" lvl="1" indent="-261813" algn="l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Link portfolio in resume &amp; LinkedIn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45346" y="-1465986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887797" y="818642"/>
            <a:ext cx="5494955" cy="8208527"/>
            <a:chOff x="0" y="0"/>
            <a:chExt cx="5969000" cy="8916670"/>
          </a:xfrm>
        </p:grpSpPr>
        <p:sp>
          <p:nvSpPr>
            <p:cNvPr id="7" name="Freeform 7"/>
            <p:cNvSpPr/>
            <p:nvPr/>
          </p:nvSpPr>
          <p:spPr>
            <a:xfrm>
              <a:off x="6671" y="6350"/>
              <a:ext cx="5955577" cy="8903970"/>
            </a:xfrm>
            <a:custGeom>
              <a:avLst/>
              <a:gdLst/>
              <a:ahLst/>
              <a:cxnLst/>
              <a:rect l="l" t="t" r="r" b="b"/>
              <a:pathLst>
                <a:path w="5955577" h="8903970">
                  <a:moveTo>
                    <a:pt x="2981766" y="8903970"/>
                  </a:moveTo>
                  <a:lnTo>
                    <a:pt x="2974019" y="8903970"/>
                  </a:lnTo>
                  <a:cubicBezTo>
                    <a:pt x="2239832" y="8903970"/>
                    <a:pt x="1531680" y="8630412"/>
                    <a:pt x="980246" y="8133714"/>
                  </a:cubicBezTo>
                  <a:cubicBezTo>
                    <a:pt x="413699" y="7623429"/>
                    <a:pt x="70037" y="6921881"/>
                    <a:pt x="12633" y="6158230"/>
                  </a:cubicBezTo>
                  <a:lnTo>
                    <a:pt x="9966" y="6121781"/>
                  </a:lnTo>
                  <a:cubicBezTo>
                    <a:pt x="-2480" y="5781802"/>
                    <a:pt x="-6544" y="2921762"/>
                    <a:pt x="17332" y="2678811"/>
                  </a:cubicBezTo>
                  <a:cubicBezTo>
                    <a:pt x="90103" y="1941195"/>
                    <a:pt x="433257" y="1261618"/>
                    <a:pt x="983548" y="765302"/>
                  </a:cubicBezTo>
                  <a:cubicBezTo>
                    <a:pt x="1530664" y="271780"/>
                    <a:pt x="2235895" y="0"/>
                    <a:pt x="2969193" y="0"/>
                  </a:cubicBezTo>
                  <a:lnTo>
                    <a:pt x="2986338" y="0"/>
                  </a:lnTo>
                  <a:cubicBezTo>
                    <a:pt x="3719636" y="0"/>
                    <a:pt x="4424867" y="271780"/>
                    <a:pt x="4971983" y="765302"/>
                  </a:cubicBezTo>
                  <a:cubicBezTo>
                    <a:pt x="5522401" y="1261745"/>
                    <a:pt x="5865428" y="1941195"/>
                    <a:pt x="5938199" y="2678684"/>
                  </a:cubicBezTo>
                  <a:cubicBezTo>
                    <a:pt x="5962203" y="2921762"/>
                    <a:pt x="5958011" y="5782310"/>
                    <a:pt x="5945565" y="6122289"/>
                  </a:cubicBezTo>
                  <a:lnTo>
                    <a:pt x="5945438" y="6125083"/>
                  </a:lnTo>
                  <a:lnTo>
                    <a:pt x="5942898" y="6158230"/>
                  </a:lnTo>
                  <a:cubicBezTo>
                    <a:pt x="5885494" y="6921881"/>
                    <a:pt x="5541832" y="7623429"/>
                    <a:pt x="4975285" y="8133715"/>
                  </a:cubicBezTo>
                  <a:cubicBezTo>
                    <a:pt x="4423978" y="8630412"/>
                    <a:pt x="3715953" y="8903970"/>
                    <a:pt x="2981766" y="8903970"/>
                  </a:cubicBezTo>
                  <a:close/>
                  <a:moveTo>
                    <a:pt x="2969193" y="19050"/>
                  </a:moveTo>
                  <a:cubicBezTo>
                    <a:pt x="2240594" y="19050"/>
                    <a:pt x="1539935" y="289052"/>
                    <a:pt x="996248" y="779399"/>
                  </a:cubicBezTo>
                  <a:cubicBezTo>
                    <a:pt x="449386" y="1272540"/>
                    <a:pt x="108518" y="1947799"/>
                    <a:pt x="36382" y="2680589"/>
                  </a:cubicBezTo>
                  <a:cubicBezTo>
                    <a:pt x="12506" y="2923286"/>
                    <a:pt x="16697" y="5781167"/>
                    <a:pt x="29016" y="6121019"/>
                  </a:cubicBezTo>
                  <a:lnTo>
                    <a:pt x="29143" y="6123686"/>
                  </a:lnTo>
                  <a:lnTo>
                    <a:pt x="31683" y="6156706"/>
                  </a:lnTo>
                  <a:cubicBezTo>
                    <a:pt x="88706" y="6915403"/>
                    <a:pt x="430082" y="7612507"/>
                    <a:pt x="993073" y="8119490"/>
                  </a:cubicBezTo>
                  <a:cubicBezTo>
                    <a:pt x="1541078" y="8613012"/>
                    <a:pt x="2244658" y="8884793"/>
                    <a:pt x="2974146" y="8884793"/>
                  </a:cubicBezTo>
                  <a:lnTo>
                    <a:pt x="2981893" y="8884793"/>
                  </a:lnTo>
                  <a:cubicBezTo>
                    <a:pt x="3711381" y="8884793"/>
                    <a:pt x="4414834" y="8613012"/>
                    <a:pt x="4962839" y="8119490"/>
                  </a:cubicBezTo>
                  <a:cubicBezTo>
                    <a:pt x="5525830" y="7612507"/>
                    <a:pt x="5867206" y="6915403"/>
                    <a:pt x="5924229" y="6156706"/>
                  </a:cubicBezTo>
                  <a:lnTo>
                    <a:pt x="5926769" y="6121527"/>
                  </a:lnTo>
                  <a:cubicBezTo>
                    <a:pt x="5939088" y="5781675"/>
                    <a:pt x="5943406" y="2923159"/>
                    <a:pt x="5919403" y="2680462"/>
                  </a:cubicBezTo>
                  <a:cubicBezTo>
                    <a:pt x="5847140" y="1947672"/>
                    <a:pt x="5506272" y="1272540"/>
                    <a:pt x="4959410" y="779272"/>
                  </a:cubicBezTo>
                  <a:cubicBezTo>
                    <a:pt x="4415596" y="289052"/>
                    <a:pt x="3714937" y="19050"/>
                    <a:pt x="2986338" y="19050"/>
                  </a:cubicBezTo>
                  <a:lnTo>
                    <a:pt x="2969193" y="19050"/>
                  </a:ln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55625" y="155701"/>
              <a:ext cx="5657606" cy="8605520"/>
            </a:xfrm>
            <a:custGeom>
              <a:avLst/>
              <a:gdLst/>
              <a:ahLst/>
              <a:cxnLst/>
              <a:rect l="l" t="t" r="r" b="b"/>
              <a:pathLst>
                <a:path w="5657606" h="8605520">
                  <a:moveTo>
                    <a:pt x="2825065" y="8605394"/>
                  </a:moveTo>
                  <a:cubicBezTo>
                    <a:pt x="2127835" y="8605394"/>
                    <a:pt x="1455243" y="8345425"/>
                    <a:pt x="931114" y="7873493"/>
                  </a:cubicBezTo>
                  <a:cubicBezTo>
                    <a:pt x="393142" y="7388987"/>
                    <a:pt x="66879" y="6722873"/>
                    <a:pt x="12396" y="5997702"/>
                  </a:cubicBezTo>
                  <a:lnTo>
                    <a:pt x="10110" y="5966968"/>
                  </a:lnTo>
                  <a:cubicBezTo>
                    <a:pt x="-2209" y="5629021"/>
                    <a:pt x="-6781" y="2784729"/>
                    <a:pt x="16968" y="2544064"/>
                  </a:cubicBezTo>
                  <a:cubicBezTo>
                    <a:pt x="85929" y="1843532"/>
                    <a:pt x="411811" y="1198245"/>
                    <a:pt x="934543" y="726821"/>
                  </a:cubicBezTo>
                  <a:cubicBezTo>
                    <a:pt x="1454227" y="258064"/>
                    <a:pt x="2123898" y="0"/>
                    <a:pt x="2820239" y="0"/>
                  </a:cubicBezTo>
                  <a:lnTo>
                    <a:pt x="2837384" y="0"/>
                  </a:lnTo>
                  <a:cubicBezTo>
                    <a:pt x="3533725" y="0"/>
                    <a:pt x="4203396" y="258191"/>
                    <a:pt x="4723080" y="726949"/>
                  </a:cubicBezTo>
                  <a:cubicBezTo>
                    <a:pt x="5245812" y="1198373"/>
                    <a:pt x="5571694" y="1843787"/>
                    <a:pt x="5640655" y="2544192"/>
                  </a:cubicBezTo>
                  <a:cubicBezTo>
                    <a:pt x="5664404" y="2784857"/>
                    <a:pt x="5659832" y="5629149"/>
                    <a:pt x="5647386" y="5967731"/>
                  </a:cubicBezTo>
                  <a:lnTo>
                    <a:pt x="5645100" y="5997830"/>
                  </a:lnTo>
                  <a:cubicBezTo>
                    <a:pt x="5590617" y="6722999"/>
                    <a:pt x="5264354" y="7389242"/>
                    <a:pt x="4726382" y="7873747"/>
                  </a:cubicBezTo>
                  <a:cubicBezTo>
                    <a:pt x="4202380" y="8345679"/>
                    <a:pt x="3529788" y="8605521"/>
                    <a:pt x="2832558" y="8605521"/>
                  </a:cubicBezTo>
                  <a:lnTo>
                    <a:pt x="2825065" y="8605521"/>
                  </a:lnTo>
                  <a:close/>
                </a:path>
              </a:pathLst>
            </a:custGeom>
            <a:blipFill>
              <a:blip r:embed="rId4"/>
              <a:stretch>
                <a:fillRect l="-64150" r="-6415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144000" y="6419540"/>
            <a:ext cx="187006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4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Portfolio: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14068" y="8004002"/>
            <a:ext cx="5772292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4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For placements &amp; career success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14068" y="6419540"/>
            <a:ext cx="4167076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4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Resume + Proof of 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14068" y="7211843"/>
            <a:ext cx="599623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4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Initiative, skills &amp; growth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7211843"/>
            <a:ext cx="187006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4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Reflect: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8004002"/>
            <a:ext cx="187006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4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Essential: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752" y="2559051"/>
            <a:ext cx="8114548" cy="267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49"/>
              </a:lnSpc>
            </a:pPr>
            <a:r>
              <a:rPr lang="en-US" sz="11153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Key Takeaways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772</Words>
  <Application>Microsoft Office PowerPoint</Application>
  <PresentationFormat>Custom</PresentationFormat>
  <Paragraphs>214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Gotham Bold</vt:lpstr>
      <vt:lpstr>Gotham Bold Italics</vt:lpstr>
      <vt:lpstr>Gotham</vt:lpstr>
      <vt:lpstr>Gotham Light</vt:lpstr>
      <vt:lpstr>Gotham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Creation</dc:title>
  <cp:lastModifiedBy>Sunil Kumar</cp:lastModifiedBy>
  <cp:revision>3</cp:revision>
  <dcterms:created xsi:type="dcterms:W3CDTF">2006-08-16T00:00:00Z</dcterms:created>
  <dcterms:modified xsi:type="dcterms:W3CDTF">2026-03-10T04:23:44Z</dcterms:modified>
  <dc:identifier>DAG9E8xq5M8</dc:identifier>
</cp:coreProperties>
</file>